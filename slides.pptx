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8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1463040"/>
            <a:ext cx="9445752" cy="374903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54480" y="1645920"/>
            <a:ext cx="90799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CineMatch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743200"/>
            <a:ext cx="3959352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2880360"/>
            <a:ext cx="9079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CCEE"/>
                </a:solidFill>
              </a:rPr>
              <a:t>A Modular Movie Recommender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456432"/>
            <a:ext cx="9079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AA"/>
                </a:solidFill>
              </a:rPr>
              <a:t>Recommender Systems  |  Individual Assignment  |  ESADE 2025/26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181344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 algorithms   |   9 metrics at K=5,10,20   |   610 users   |   MovieLens Small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BBBBCC"/>
                </a:solidFill>
              </a:rPr>
              <a:t>What we built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7432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743200" cy="40233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28800"/>
            <a:ext cx="2523744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CCCCFF"/>
                </a:solidFill>
              </a:rPr>
              <a:t>MovieLens</a:t>
            </a:r>
            <a:r>
              <a:rPr sz="1300" b="0" i="0" dirty="0">
                <a:solidFill>
                  <a:srgbClr val="CCCCFF"/>
                </a:solidFill>
              </a:rPr>
              <a:t> Small
100,836 ratings
610 users  |  9,742 movies
98.3% sparse
22-year span (1996-2018)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1325880"/>
            <a:ext cx="27432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55848" y="1325880"/>
            <a:ext cx="2743200" cy="40233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47288" y="13533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Algorithms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1828800"/>
            <a:ext cx="2523744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</a:rPr>
              <a:t>4 families / 7 methods:
Baselines (3)
Item-Item CF
User-User CF
Content-Based
Matrix Factorization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325880"/>
            <a:ext cx="27432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54496" y="1325880"/>
            <a:ext cx="2743200" cy="40233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5936" y="13533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828800"/>
            <a:ext cx="252374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</a:rPr>
              <a:t>9 metrics
K = 5, 10 and 20
Temporal holdout split
Relevance &gt;= 3.5 stars
593 users evaluated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53144" y="1325880"/>
            <a:ext cx="27432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53144" y="1325880"/>
            <a:ext cx="2743200" cy="40233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44584" y="13533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Prototype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1828800"/>
            <a:ext cx="252374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</a:rPr>
              <a:t>Streamlit app
3 interactive pages
Dataset Insights
Get Recommendations
Compare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Dataset &amp; EDA</a:t>
            </a:r>
            <a:r>
              <a:rPr lang="de-DE" sz="3200" b="1" i="0" dirty="0">
                <a:solidFill>
                  <a:srgbClr val="FFFFFF"/>
                </a:solidFill>
              </a:rPr>
              <a:t>:</a:t>
            </a:r>
            <a:r>
              <a:rPr sz="3200" b="1" i="0" dirty="0">
                <a:solidFill>
                  <a:srgbClr val="FFFFFF"/>
                </a:solidFill>
              </a:rPr>
              <a:t> </a:t>
            </a:r>
            <a:r>
              <a:rPr sz="3200" b="1" i="0" dirty="0" err="1">
                <a:solidFill>
                  <a:srgbClr val="FFFFFF"/>
                </a:solidFill>
              </a:rPr>
              <a:t>MovieLens</a:t>
            </a:r>
            <a:r>
              <a:rPr sz="3200" b="1" i="0" dirty="0">
                <a:solidFill>
                  <a:srgbClr val="FFFFFF"/>
                </a:solidFill>
              </a:rPr>
              <a:t> Small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BBCC"/>
                </a:solidFill>
              </a:rPr>
              <a:t>9-section notebook (eda.ipynb) with executed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210312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62456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A9D8F"/>
                </a:solidFill>
              </a:rPr>
              <a:t>610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928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CC"/>
                </a:solidFill>
              </a:rPr>
              <a:t>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6352" y="1325880"/>
            <a:ext cx="210312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16352" y="1362456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A9D8F"/>
                </a:solidFill>
              </a:rPr>
              <a:t>9,742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6352" y="18928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CC"/>
                </a:solidFill>
              </a:rPr>
              <a:t>Movies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4064" y="1325880"/>
            <a:ext cx="210312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84064" y="1362456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A9D8F"/>
                </a:solidFill>
              </a:rPr>
              <a:t>100,836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4064" y="18928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CC"/>
                </a:solidFill>
              </a:rPr>
              <a:t>Ratings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51776" y="1325880"/>
            <a:ext cx="210312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51776" y="1362456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A9D8F"/>
                </a:solidFill>
              </a:rPr>
              <a:t>98.3%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1776" y="18928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CC"/>
                </a:solidFill>
              </a:rPr>
              <a:t>Sparsity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19488" y="1325880"/>
            <a:ext cx="2103120" cy="100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19488" y="1362456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A9D8F"/>
                </a:solidFill>
              </a:rPr>
              <a:t>3.50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9488" y="18928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CC"/>
                </a:solidFill>
              </a:rPr>
              <a:t>Avg Rating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578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9D8F"/>
                </a:solidFill>
              </a:rPr>
              <a:t>Key Findings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944368"/>
            <a:ext cx="112471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FFFFFF"/>
                </a:solidFill>
              </a:rPr>
              <a:t>  &gt;  Long tail: top 10% of movies receive ~50% of all ratings</a:t>
            </a:r>
          </a:p>
          <a:p>
            <a:r>
              <a:rPr sz="1400" dirty="0">
                <a:solidFill>
                  <a:srgbClr val="FFFFFF"/>
                </a:solidFill>
              </a:rPr>
              <a:t>  &gt;  Ratings skew positive (mean 3.50)</a:t>
            </a:r>
            <a:r>
              <a:rPr lang="de-DE" sz="1400" dirty="0">
                <a:solidFill>
                  <a:srgbClr val="FFFFFF"/>
                </a:solidFill>
              </a:rPr>
              <a:t>, </a:t>
            </a:r>
            <a:r>
              <a:rPr sz="1400" dirty="0">
                <a:solidFill>
                  <a:srgbClr val="FFFFFF"/>
                </a:solidFill>
              </a:rPr>
              <a:t>selection bias from voluntary watching</a:t>
            </a:r>
          </a:p>
          <a:p>
            <a:r>
              <a:rPr sz="1400" dirty="0">
                <a:solidFill>
                  <a:srgbClr val="FFFFFF"/>
                </a:solidFill>
              </a:rPr>
              <a:t>  &gt;  ~7% of users have &lt; 20 ratings - cold-start risk for CF and MF</a:t>
            </a:r>
          </a:p>
          <a:p>
            <a:r>
              <a:rPr sz="1400" dirty="0">
                <a:solidFill>
                  <a:srgbClr val="FFFFFF"/>
                </a:solidFill>
              </a:rPr>
              <a:t>  &gt;  Tags cover ~45% of movies - combined with genres in TF-IDF vocabulary</a:t>
            </a:r>
          </a:p>
          <a:p>
            <a:r>
              <a:rPr sz="1400" dirty="0">
                <a:solidFill>
                  <a:srgbClr val="FFFFFF"/>
                </a:solidFill>
              </a:rPr>
              <a:t>  &gt;  22-year temporal span motivates a temporal (not random) train/test split</a:t>
            </a:r>
          </a:p>
          <a:p>
            <a:r>
              <a:rPr sz="1400" dirty="0">
                <a:solidFill>
                  <a:srgbClr val="FFFFFF"/>
                </a:solidFill>
              </a:rPr>
              <a:t>  &gt;  Only 35.8% of items have &gt;= 5 co-raters - limits Item-Item CF recall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7 Algorithms - 4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BBCC"/>
                </a:solidFill>
              </a:rPr>
              <a:t>Uniform .fit() / .recommend() API across all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219456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194560" cy="3657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1344168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Baselines 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764792"/>
            <a:ext cx="20482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F4A261"/>
                </a:solidFill>
              </a:rPr>
              <a:t>baselines.py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084831"/>
            <a:ext cx="204825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CCCFF"/>
                </a:solidFill>
              </a:rPr>
              <a:t>Random
</a:t>
            </a:r>
            <a:r>
              <a:rPr sz="1300" b="0" i="0" dirty="0" err="1">
                <a:solidFill>
                  <a:srgbClr val="CCCCFF"/>
                </a:solidFill>
              </a:rPr>
              <a:t>MostPopular</a:t>
            </a:r>
            <a:r>
              <a:rPr sz="1300" b="0" i="0" dirty="0">
                <a:solidFill>
                  <a:srgbClr val="CCCCFF"/>
                </a:solidFill>
              </a:rPr>
              <a:t>
</a:t>
            </a:r>
            <a:r>
              <a:rPr sz="1300" b="0" i="0" dirty="0" err="1">
                <a:solidFill>
                  <a:srgbClr val="CCCCFF"/>
                </a:solidFill>
              </a:rPr>
              <a:t>HighestRated</a:t>
            </a:r>
            <a:r>
              <a:rPr sz="1300" b="0" i="0" dirty="0">
                <a:solidFill>
                  <a:srgbClr val="CCCCFF"/>
                </a:solidFill>
              </a:rPr>
              <a:t>
(min 20 ratings)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4133087"/>
            <a:ext cx="2048256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4224528"/>
            <a:ext cx="204825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2A9D8F"/>
                </a:solidFill>
              </a:rPr>
              <a:t>No user history needed.
Lower/upper bounds for
</a:t>
            </a:r>
            <a:r>
              <a:rPr sz="1300" b="0" i="1" dirty="0" err="1">
                <a:solidFill>
                  <a:srgbClr val="2A9D8F"/>
                </a:solidFill>
              </a:rPr>
              <a:t>personalised</a:t>
            </a:r>
            <a:r>
              <a:rPr sz="1300" b="0" i="1" dirty="0">
                <a:solidFill>
                  <a:srgbClr val="2A9D8F"/>
                </a:solidFill>
              </a:rPr>
              <a:t> methods.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8608" y="1325880"/>
            <a:ext cx="219456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78608" y="1325880"/>
            <a:ext cx="2194560" cy="3657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51760" y="1344168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Item-Item CF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764792"/>
            <a:ext cx="20482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A261"/>
                </a:solidFill>
              </a:rPr>
              <a:t>collaborative.py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084831"/>
            <a:ext cx="204825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</a:rPr>
              <a:t>Cosine similarity
between items
min_support=5
k=20 neighbours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4133087"/>
            <a:ext cx="2048256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51760" y="4224528"/>
            <a:ext cx="204825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A9D8F"/>
                </a:solidFill>
              </a:rPr>
              <a:t>score(u,i) =
sum sim(i,j)*r(u,j)
/ sum|sim(i,j)|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82896" y="1325880"/>
            <a:ext cx="219456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82896" y="1325880"/>
            <a:ext cx="2194560" cy="3657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56048" y="1344168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User-User CF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1764792"/>
            <a:ext cx="20482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A261"/>
                </a:solidFill>
              </a:rPr>
              <a:t>collaborative.py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2084831"/>
            <a:ext cx="204825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</a:rPr>
              <a:t>Cosine similarity
between users
k=20 neighbours
Vectorised scoring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56048" y="4133087"/>
            <a:ext cx="2048256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56048" y="4224528"/>
            <a:ext cx="204825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A9D8F"/>
                </a:solidFill>
              </a:rPr>
              <a:t>score(u,i) =
sum sim(u,n)*r(n,i)
/ sum|sim(u,n)|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87184" y="1325880"/>
            <a:ext cx="219456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187184" y="1325880"/>
            <a:ext cx="2194560" cy="3657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60336" y="1344168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Content-Based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0336" y="1764792"/>
            <a:ext cx="20482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A261"/>
                </a:solidFill>
              </a:rPr>
              <a:t>content_based.py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336" y="2084831"/>
            <a:ext cx="204825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</a:rPr>
              <a:t>TF-IDF on genres
+ user tags
max_features=5000
Centred profile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0336" y="4133087"/>
            <a:ext cx="2048256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60336" y="4224528"/>
            <a:ext cx="204825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A9D8F"/>
                </a:solidFill>
              </a:rPr>
              <a:t>profile(u) =
sum (r-mean_r)
* vector(i)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91472" y="1325880"/>
            <a:ext cx="219456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491472" y="1325880"/>
            <a:ext cx="2194560" cy="3657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64624" y="1344168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Matrix Fact.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64624" y="1764792"/>
            <a:ext cx="20482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A261"/>
                </a:solidFill>
              </a:rPr>
              <a:t>matrix_factorization.py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64624" y="2084831"/>
            <a:ext cx="204825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</a:rPr>
              <a:t>TruncatedSVD
50 latent factors
R ~ U*Sigma*Vt
Stored R-hat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64624" y="4133087"/>
            <a:ext cx="2048256" cy="1270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64624" y="4224528"/>
            <a:ext cx="204825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A9D8F"/>
                </a:solidFill>
              </a:rPr>
              <a:t>Captures latent
taste patterns
across all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Evaluation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BBCC"/>
                </a:solidFill>
              </a:rPr>
              <a:t>Temporal split + relevance threshold + 9 metrics at K=5,10,20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30352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</a:rPr>
              <a:t>Train / Test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Per-user temporal holdout:
Ratings sorted by timestamp.
Most recent 20% -&gt; test set.
Earlier 80% -&gt; training set.
Eliminates temporal leakage:
a random shuffle would let future
ratings 'inform' past training.
Relevance threshold: rating &gt;= 3.5
A 0.5-star item no longer counts
the same as a 5-star item.
Train: 80,896   |   Test: 19,940
Users evaluated: 593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25880"/>
            <a:ext cx="5669280" cy="34747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136245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Accuracy Metrics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673352"/>
            <a:ext cx="566928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08192" y="1737360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CCFF"/>
                </a:solidFill>
              </a:rPr>
              <a:t>  </a:t>
            </a:r>
            <a:r>
              <a:rPr sz="1100" b="0" i="0" dirty="0" err="1">
                <a:solidFill>
                  <a:srgbClr val="CCCCFF"/>
                </a:solidFill>
              </a:rPr>
              <a:t>Precision@K</a:t>
            </a:r>
            <a:r>
              <a:rPr sz="1100" b="0" i="0" dirty="0">
                <a:solidFill>
                  <a:srgbClr val="CCCCFF"/>
                </a:solidFill>
              </a:rPr>
              <a:t>  - fraction of recs that are relevant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103120"/>
            <a:ext cx="566928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08192" y="2167128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CCFF"/>
                </a:solidFill>
              </a:rPr>
              <a:t>  </a:t>
            </a:r>
            <a:r>
              <a:rPr sz="1100" b="0" i="0" dirty="0" err="1">
                <a:solidFill>
                  <a:srgbClr val="CCCCFF"/>
                </a:solidFill>
              </a:rPr>
              <a:t>Recall@K</a:t>
            </a:r>
            <a:r>
              <a:rPr sz="1100" b="0" i="0" dirty="0">
                <a:solidFill>
                  <a:srgbClr val="CCCCFF"/>
                </a:solidFill>
              </a:rPr>
              <a:t>  - fraction of liked items retrieved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532888"/>
            <a:ext cx="566928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08192" y="2596896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CCFF"/>
                </a:solidFill>
              </a:rPr>
              <a:t>  NDCG@K  - ranking quality, </a:t>
            </a:r>
            <a:r>
              <a:rPr sz="1100" b="0" i="0" dirty="0" err="1">
                <a:solidFill>
                  <a:srgbClr val="CCCCFF"/>
                </a:solidFill>
              </a:rPr>
              <a:t>penalises</a:t>
            </a:r>
            <a:r>
              <a:rPr sz="1100" b="0" i="0" dirty="0">
                <a:solidFill>
                  <a:srgbClr val="CCCCFF"/>
                </a:solidFill>
              </a:rPr>
              <a:t> late hits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962656"/>
            <a:ext cx="566928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08192" y="3026664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CCFF"/>
                </a:solidFill>
              </a:rPr>
              <a:t>  MRR@K  - reciprocal rank of first hit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392424"/>
            <a:ext cx="566928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08192" y="3456432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CCFF"/>
                </a:solidFill>
              </a:rPr>
              <a:t>  Hit </a:t>
            </a:r>
            <a:r>
              <a:rPr sz="1100" b="0" i="0" dirty="0" err="1">
                <a:solidFill>
                  <a:srgbClr val="CCCCFF"/>
                </a:solidFill>
              </a:rPr>
              <a:t>Rate@K</a:t>
            </a:r>
            <a:r>
              <a:rPr sz="1100" b="0" i="0" dirty="0">
                <a:solidFill>
                  <a:srgbClr val="CCCCFF"/>
                </a:solidFill>
              </a:rPr>
              <a:t>  - probability of &gt;= 1 relevant rec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931920"/>
            <a:ext cx="5669280" cy="34747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396849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Beyond-Accuracy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4279392"/>
            <a:ext cx="566928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4343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  Coverage  -- fraction of catalogue recommended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4709160"/>
            <a:ext cx="566928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08192" y="47731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  Novelty  -- self-information (Zhou et al. 2010)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5138928"/>
            <a:ext cx="566928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08192" y="52029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  Avg Popularity  -- popularity bias indicator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5568696"/>
            <a:ext cx="566928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08192" y="563270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  ILD  -- intra-list diversity (Ziegler et al. 2005)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616305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A9D8F"/>
                </a:solidFill>
              </a:rPr>
              <a:t>Evaluated at K = 5, 10 and 20  --  results in results_multi_k.csv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Results -- K=10, 593 Users, Relevance &gt;= 3.5 Stars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BBCC"/>
                </a:solidFill>
              </a:rPr>
              <a:t>Temporal split  |  Teal = best per column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554480" cy="51206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1463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234440"/>
            <a:ext cx="1554480" cy="51206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8" name="TextBox 7"/>
          <p:cNvSpPr txBox="1"/>
          <p:nvPr/>
        </p:nvSpPr>
        <p:spPr>
          <a:xfrm>
            <a:off x="1965960" y="1280160"/>
            <a:ext cx="1463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P@10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234440"/>
            <a:ext cx="1554480" cy="51206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0" name="TextBox 9"/>
          <p:cNvSpPr txBox="1"/>
          <p:nvPr/>
        </p:nvSpPr>
        <p:spPr>
          <a:xfrm>
            <a:off x="3520440" y="1280160"/>
            <a:ext cx="1463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NDCG@10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34440"/>
            <a:ext cx="1554480" cy="51206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2" name="TextBox 11"/>
          <p:cNvSpPr txBox="1"/>
          <p:nvPr/>
        </p:nvSpPr>
        <p:spPr>
          <a:xfrm>
            <a:off x="5074920" y="1280160"/>
            <a:ext cx="1463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HR@10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234440"/>
            <a:ext cx="1554480" cy="51206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4" name="TextBox 13"/>
          <p:cNvSpPr txBox="1"/>
          <p:nvPr/>
        </p:nvSpPr>
        <p:spPr>
          <a:xfrm>
            <a:off x="6629400" y="1280160"/>
            <a:ext cx="1463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1554480" cy="51206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6" name="TextBox 15"/>
          <p:cNvSpPr txBox="1"/>
          <p:nvPr/>
        </p:nvSpPr>
        <p:spPr>
          <a:xfrm>
            <a:off x="8183880" y="1280160"/>
            <a:ext cx="1463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Novelty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1234440"/>
            <a:ext cx="1554480" cy="51206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8" name="TextBox 17"/>
          <p:cNvSpPr txBox="1"/>
          <p:nvPr/>
        </p:nvSpPr>
        <p:spPr>
          <a:xfrm>
            <a:off x="9738360" y="1280160"/>
            <a:ext cx="1463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746504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0" name="TextBox 19"/>
          <p:cNvSpPr txBox="1"/>
          <p:nvPr/>
        </p:nvSpPr>
        <p:spPr>
          <a:xfrm>
            <a:off x="402336" y="1792224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</a:rPr>
              <a:t>Random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1746504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2" name="TextBox 21"/>
          <p:cNvSpPr txBox="1"/>
          <p:nvPr/>
        </p:nvSpPr>
        <p:spPr>
          <a:xfrm>
            <a:off x="1956816" y="1792224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1746504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4" name="TextBox 23"/>
          <p:cNvSpPr txBox="1"/>
          <p:nvPr/>
        </p:nvSpPr>
        <p:spPr>
          <a:xfrm>
            <a:off x="3511296" y="1792224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1746504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6" name="TextBox 25"/>
          <p:cNvSpPr txBox="1"/>
          <p:nvPr/>
        </p:nvSpPr>
        <p:spPr>
          <a:xfrm>
            <a:off x="5065776" y="1792224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1746504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8" name="TextBox 27"/>
          <p:cNvSpPr txBox="1"/>
          <p:nvPr/>
        </p:nvSpPr>
        <p:spPr>
          <a:xfrm>
            <a:off x="6620256" y="1792224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0.119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1746504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30" name="TextBox 29"/>
          <p:cNvSpPr txBox="1"/>
          <p:nvPr/>
        </p:nvSpPr>
        <p:spPr>
          <a:xfrm>
            <a:off x="8174736" y="1792224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14.27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1746504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32" name="TextBox 31"/>
          <p:cNvSpPr txBox="1"/>
          <p:nvPr/>
        </p:nvSpPr>
        <p:spPr>
          <a:xfrm>
            <a:off x="9729216" y="1792224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0.839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258568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34" name="TextBox 33"/>
          <p:cNvSpPr txBox="1"/>
          <p:nvPr/>
        </p:nvSpPr>
        <p:spPr>
          <a:xfrm>
            <a:off x="402336" y="2304288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</a:rPr>
              <a:t>MostPopular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20240" y="2258568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36" name="TextBox 35"/>
          <p:cNvSpPr txBox="1"/>
          <p:nvPr/>
        </p:nvSpPr>
        <p:spPr>
          <a:xfrm>
            <a:off x="1956816" y="2304288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0.064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2258568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38" name="TextBox 37"/>
          <p:cNvSpPr txBox="1"/>
          <p:nvPr/>
        </p:nvSpPr>
        <p:spPr>
          <a:xfrm>
            <a:off x="3511296" y="2304288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0.082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2258568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40" name="TextBox 39"/>
          <p:cNvSpPr txBox="1"/>
          <p:nvPr/>
        </p:nvSpPr>
        <p:spPr>
          <a:xfrm>
            <a:off x="5065776" y="2304288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0.337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2258568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42" name="TextBox 41"/>
          <p:cNvSpPr txBox="1"/>
          <p:nvPr/>
        </p:nvSpPr>
        <p:spPr>
          <a:xfrm>
            <a:off x="6620256" y="2304288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2258568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44" name="TextBox 43"/>
          <p:cNvSpPr txBox="1"/>
          <p:nvPr/>
        </p:nvSpPr>
        <p:spPr>
          <a:xfrm>
            <a:off x="8174736" y="2304288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8.57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92640" y="2258568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46" name="TextBox 45"/>
          <p:cNvSpPr txBox="1"/>
          <p:nvPr/>
        </p:nvSpPr>
        <p:spPr>
          <a:xfrm>
            <a:off x="9729216" y="2304288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0.952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770632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48" name="TextBox 47"/>
          <p:cNvSpPr txBox="1"/>
          <p:nvPr/>
        </p:nvSpPr>
        <p:spPr>
          <a:xfrm>
            <a:off x="402336" y="2816352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</a:rPr>
              <a:t>HighestRated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2770632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50" name="TextBox 49"/>
          <p:cNvSpPr txBox="1"/>
          <p:nvPr/>
        </p:nvSpPr>
        <p:spPr>
          <a:xfrm>
            <a:off x="1956816" y="2816352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0" y="2770632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52" name="TextBox 51"/>
          <p:cNvSpPr txBox="1"/>
          <p:nvPr/>
        </p:nvSpPr>
        <p:spPr>
          <a:xfrm>
            <a:off x="3511296" y="2816352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0.030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0" y="2770632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54" name="TextBox 53"/>
          <p:cNvSpPr txBox="1"/>
          <p:nvPr/>
        </p:nvSpPr>
        <p:spPr>
          <a:xfrm>
            <a:off x="5065776" y="2816352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0.164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0" y="2770632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56" name="TextBox 55"/>
          <p:cNvSpPr txBox="1"/>
          <p:nvPr/>
        </p:nvSpPr>
        <p:spPr>
          <a:xfrm>
            <a:off x="6620256" y="2816352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0.004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38160" y="2770632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58" name="TextBox 57"/>
          <p:cNvSpPr txBox="1"/>
          <p:nvPr/>
        </p:nvSpPr>
        <p:spPr>
          <a:xfrm>
            <a:off x="8174736" y="2816352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10.76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92640" y="2770632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60" name="TextBox 59"/>
          <p:cNvSpPr txBox="1"/>
          <p:nvPr/>
        </p:nvSpPr>
        <p:spPr>
          <a:xfrm>
            <a:off x="9729216" y="2816352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9D8F"/>
                </a:solidFill>
              </a:rPr>
              <a:t>0.973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282696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62" name="TextBox 61"/>
          <p:cNvSpPr txBox="1"/>
          <p:nvPr/>
        </p:nvSpPr>
        <p:spPr>
          <a:xfrm>
            <a:off x="402336" y="3328416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</a:rPr>
              <a:t>ContentBased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20240" y="3282696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64" name="TextBox 63"/>
          <p:cNvSpPr txBox="1"/>
          <p:nvPr/>
        </p:nvSpPr>
        <p:spPr>
          <a:xfrm>
            <a:off x="1956816" y="3328416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0.008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74720" y="3282696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66" name="TextBox 65"/>
          <p:cNvSpPr txBox="1"/>
          <p:nvPr/>
        </p:nvSpPr>
        <p:spPr>
          <a:xfrm>
            <a:off x="3511296" y="3328416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0.009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0" y="3282696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68" name="TextBox 67"/>
          <p:cNvSpPr txBox="1"/>
          <p:nvPr/>
        </p:nvSpPr>
        <p:spPr>
          <a:xfrm>
            <a:off x="5065776" y="3328416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0.066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0" y="3282696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70" name="TextBox 69"/>
          <p:cNvSpPr txBox="1"/>
          <p:nvPr/>
        </p:nvSpPr>
        <p:spPr>
          <a:xfrm>
            <a:off x="6620256" y="3328416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9D8F"/>
                </a:solidFill>
              </a:rPr>
              <a:t>0.321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38160" y="3282696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72" name="TextBox 71"/>
          <p:cNvSpPr txBox="1"/>
          <p:nvPr/>
        </p:nvSpPr>
        <p:spPr>
          <a:xfrm>
            <a:off x="8174736" y="3328416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9D8F"/>
                </a:solidFill>
              </a:rPr>
              <a:t>14.64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692640" y="3282696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74" name="TextBox 73"/>
          <p:cNvSpPr txBox="1"/>
          <p:nvPr/>
        </p:nvSpPr>
        <p:spPr>
          <a:xfrm>
            <a:off x="9729216" y="3328416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0.201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" y="3794760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76" name="TextBox 75"/>
          <p:cNvSpPr txBox="1"/>
          <p:nvPr/>
        </p:nvSpPr>
        <p:spPr>
          <a:xfrm>
            <a:off x="402336" y="3840480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</a:rPr>
              <a:t>ItemItemCF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20240" y="3794760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78" name="TextBox 77"/>
          <p:cNvSpPr txBox="1"/>
          <p:nvPr/>
        </p:nvSpPr>
        <p:spPr>
          <a:xfrm>
            <a:off x="1956816" y="3840480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0.004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74720" y="3794760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80" name="TextBox 79"/>
          <p:cNvSpPr txBox="1"/>
          <p:nvPr/>
        </p:nvSpPr>
        <p:spPr>
          <a:xfrm>
            <a:off x="3511296" y="3840480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0.004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0" y="3794760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82" name="TextBox 81"/>
          <p:cNvSpPr txBox="1"/>
          <p:nvPr/>
        </p:nvSpPr>
        <p:spPr>
          <a:xfrm>
            <a:off x="5065776" y="3840480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0.037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83680" y="3794760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84" name="TextBox 83"/>
          <p:cNvSpPr txBox="1"/>
          <p:nvPr/>
        </p:nvSpPr>
        <p:spPr>
          <a:xfrm>
            <a:off x="6620256" y="3840480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0.059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138160" y="3794760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86" name="TextBox 85"/>
          <p:cNvSpPr txBox="1"/>
          <p:nvPr/>
        </p:nvSpPr>
        <p:spPr>
          <a:xfrm>
            <a:off x="8174736" y="3840480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13.57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92640" y="3794760"/>
            <a:ext cx="1554480" cy="512064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88" name="TextBox 87"/>
          <p:cNvSpPr txBox="1"/>
          <p:nvPr/>
        </p:nvSpPr>
        <p:spPr>
          <a:xfrm>
            <a:off x="9729216" y="3840480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0.815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4306824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90" name="TextBox 89"/>
          <p:cNvSpPr txBox="1"/>
          <p:nvPr/>
        </p:nvSpPr>
        <p:spPr>
          <a:xfrm>
            <a:off x="402336" y="4352544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</a:rPr>
              <a:t>UserUserCF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920240" y="4306824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92" name="TextBox 91"/>
          <p:cNvSpPr txBox="1"/>
          <p:nvPr/>
        </p:nvSpPr>
        <p:spPr>
          <a:xfrm>
            <a:off x="1956816" y="4352544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0.010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474720" y="4306824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94" name="TextBox 93"/>
          <p:cNvSpPr txBox="1"/>
          <p:nvPr/>
        </p:nvSpPr>
        <p:spPr>
          <a:xfrm>
            <a:off x="3511296" y="4352544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0.014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029200" y="4306824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96" name="TextBox 95"/>
          <p:cNvSpPr txBox="1"/>
          <p:nvPr/>
        </p:nvSpPr>
        <p:spPr>
          <a:xfrm>
            <a:off x="5065776" y="4352544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0.088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583680" y="4306824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98" name="TextBox 97"/>
          <p:cNvSpPr txBox="1"/>
          <p:nvPr/>
        </p:nvSpPr>
        <p:spPr>
          <a:xfrm>
            <a:off x="6620256" y="4352544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0.156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138160" y="4306824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00" name="TextBox 99"/>
          <p:cNvSpPr txBox="1"/>
          <p:nvPr/>
        </p:nvSpPr>
        <p:spPr>
          <a:xfrm>
            <a:off x="8174736" y="4352544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12.59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92640" y="4306824"/>
            <a:ext cx="1554480" cy="512064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02" name="TextBox 101"/>
          <p:cNvSpPr txBox="1"/>
          <p:nvPr/>
        </p:nvSpPr>
        <p:spPr>
          <a:xfrm>
            <a:off x="9729216" y="4352544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0.883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65760" y="4818888"/>
            <a:ext cx="1554480" cy="512064"/>
          </a:xfrm>
          <a:prstGeom prst="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04" name="TextBox 103"/>
          <p:cNvSpPr txBox="1"/>
          <p:nvPr/>
        </p:nvSpPr>
        <p:spPr>
          <a:xfrm>
            <a:off x="402336" y="4864608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DDFF"/>
                </a:solidFill>
              </a:rPr>
              <a:t>MatrixFact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920240" y="4818888"/>
            <a:ext cx="1554480" cy="512064"/>
          </a:xfrm>
          <a:prstGeom prst="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06" name="TextBox 105"/>
          <p:cNvSpPr txBox="1"/>
          <p:nvPr/>
        </p:nvSpPr>
        <p:spPr>
          <a:xfrm>
            <a:off x="1956816" y="4864608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9D8F"/>
                </a:solidFill>
              </a:rPr>
              <a:t>0.090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474720" y="4818888"/>
            <a:ext cx="1554480" cy="512064"/>
          </a:xfrm>
          <a:prstGeom prst="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08" name="TextBox 107"/>
          <p:cNvSpPr txBox="1"/>
          <p:nvPr/>
        </p:nvSpPr>
        <p:spPr>
          <a:xfrm>
            <a:off x="3511296" y="4864608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9D8F"/>
                </a:solidFill>
              </a:rPr>
              <a:t>0.112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029200" y="4818888"/>
            <a:ext cx="1554480" cy="512064"/>
          </a:xfrm>
          <a:prstGeom prst="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10" name="TextBox 109"/>
          <p:cNvSpPr txBox="1"/>
          <p:nvPr/>
        </p:nvSpPr>
        <p:spPr>
          <a:xfrm>
            <a:off x="5065776" y="4864608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9D8F"/>
                </a:solidFill>
              </a:rPr>
              <a:t>0.498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583680" y="4818888"/>
            <a:ext cx="1554480" cy="512064"/>
          </a:xfrm>
          <a:prstGeom prst="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12" name="TextBox 111"/>
          <p:cNvSpPr txBox="1"/>
          <p:nvPr/>
        </p:nvSpPr>
        <p:spPr>
          <a:xfrm>
            <a:off x="6620256" y="4864608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0.068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138160" y="4818888"/>
            <a:ext cx="1554480" cy="512064"/>
          </a:xfrm>
          <a:prstGeom prst="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14" name="TextBox 113"/>
          <p:cNvSpPr txBox="1"/>
          <p:nvPr/>
        </p:nvSpPr>
        <p:spPr>
          <a:xfrm>
            <a:off x="8174736" y="4864608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9.55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692640" y="4818888"/>
            <a:ext cx="1554480" cy="512064"/>
          </a:xfrm>
          <a:prstGeom prst="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16" name="TextBox 115"/>
          <p:cNvSpPr txBox="1"/>
          <p:nvPr/>
        </p:nvSpPr>
        <p:spPr>
          <a:xfrm>
            <a:off x="9729216" y="4864608"/>
            <a:ext cx="14813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0.926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65760" y="6080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A9D8F"/>
                </a:solidFill>
              </a:rPr>
              <a:t>MatrixFact dominates all accuracy metrics.  ContentBased leads on novelty and coverage.  ILD reveals genre diversity per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Rankings Hold Across K = 5, 10,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BBCC"/>
                </a:solidFill>
              </a:rPr>
              <a:t>P@K for all models -- results are not a K=10 artefact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146304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6" name="TextBox 5"/>
          <p:cNvSpPr txBox="1"/>
          <p:nvPr/>
        </p:nvSpPr>
        <p:spPr>
          <a:xfrm>
            <a:off x="411480" y="135331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261872"/>
            <a:ext cx="146304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8" name="TextBox 7"/>
          <p:cNvSpPr txBox="1"/>
          <p:nvPr/>
        </p:nvSpPr>
        <p:spPr>
          <a:xfrm>
            <a:off x="1874520" y="135331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P@5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61872"/>
            <a:ext cx="146304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0" name="TextBox 9"/>
          <p:cNvSpPr txBox="1"/>
          <p:nvPr/>
        </p:nvSpPr>
        <p:spPr>
          <a:xfrm>
            <a:off x="3337560" y="135331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P@10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61872"/>
            <a:ext cx="146304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2" name="TextBox 11"/>
          <p:cNvSpPr txBox="1"/>
          <p:nvPr/>
        </p:nvSpPr>
        <p:spPr>
          <a:xfrm>
            <a:off x="4800600" y="135331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P@20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61872"/>
            <a:ext cx="393192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4" name="TextBox 13"/>
          <p:cNvSpPr txBox="1"/>
          <p:nvPr/>
        </p:nvSpPr>
        <p:spPr>
          <a:xfrm>
            <a:off x="6263640" y="1353312"/>
            <a:ext cx="3840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Trend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10512"/>
            <a:ext cx="1463040" cy="548640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6" name="TextBox 15"/>
          <p:cNvSpPr txBox="1"/>
          <p:nvPr/>
        </p:nvSpPr>
        <p:spPr>
          <a:xfrm>
            <a:off x="411480" y="190195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DDFF"/>
                </a:solidFill>
              </a:rPr>
              <a:t>Random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1810512"/>
            <a:ext cx="1463040" cy="548640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8" name="TextBox 17"/>
          <p:cNvSpPr txBox="1"/>
          <p:nvPr/>
        </p:nvSpPr>
        <p:spPr>
          <a:xfrm>
            <a:off x="1874520" y="190195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1810512"/>
            <a:ext cx="1463040" cy="548640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0" name="TextBox 19"/>
          <p:cNvSpPr txBox="1"/>
          <p:nvPr/>
        </p:nvSpPr>
        <p:spPr>
          <a:xfrm>
            <a:off x="3337560" y="190195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810512"/>
            <a:ext cx="1463040" cy="548640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2" name="TextBox 21"/>
          <p:cNvSpPr txBox="1"/>
          <p:nvPr/>
        </p:nvSpPr>
        <p:spPr>
          <a:xfrm>
            <a:off x="4800600" y="190195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810512"/>
            <a:ext cx="3931920" cy="548640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4" name="TextBox 23"/>
          <p:cNvSpPr txBox="1"/>
          <p:nvPr/>
        </p:nvSpPr>
        <p:spPr>
          <a:xfrm>
            <a:off x="6263640" y="1901952"/>
            <a:ext cx="3840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CCFF"/>
                </a:solidFill>
              </a:rPr>
              <a:t>Flat -- random noise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359152"/>
            <a:ext cx="1463040" cy="548640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6" name="TextBox 25"/>
          <p:cNvSpPr txBox="1"/>
          <p:nvPr/>
        </p:nvSpPr>
        <p:spPr>
          <a:xfrm>
            <a:off x="411480" y="245059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DDFF"/>
                </a:solidFill>
              </a:rPr>
              <a:t>MostPopular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2359152"/>
            <a:ext cx="1463040" cy="548640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8" name="TextBox 27"/>
          <p:cNvSpPr txBox="1"/>
          <p:nvPr/>
        </p:nvSpPr>
        <p:spPr>
          <a:xfrm>
            <a:off x="1874520" y="245059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0.079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2359152"/>
            <a:ext cx="1463040" cy="548640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30" name="TextBox 29"/>
          <p:cNvSpPr txBox="1"/>
          <p:nvPr/>
        </p:nvSpPr>
        <p:spPr>
          <a:xfrm>
            <a:off x="3337560" y="245059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0.064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2359152"/>
            <a:ext cx="1463040" cy="548640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32" name="TextBox 31"/>
          <p:cNvSpPr txBox="1"/>
          <p:nvPr/>
        </p:nvSpPr>
        <p:spPr>
          <a:xfrm>
            <a:off x="4800600" y="245059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0.054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359152"/>
            <a:ext cx="3931920" cy="548640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34" name="TextBox 33"/>
          <p:cNvSpPr txBox="1"/>
          <p:nvPr/>
        </p:nvSpPr>
        <p:spPr>
          <a:xfrm>
            <a:off x="6263640" y="2450592"/>
            <a:ext cx="3840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CCFF"/>
                </a:solidFill>
              </a:rPr>
              <a:t>Decreasing -- popular items front-loaded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907792"/>
            <a:ext cx="1463040" cy="548640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36" name="TextBox 35"/>
          <p:cNvSpPr txBox="1"/>
          <p:nvPr/>
        </p:nvSpPr>
        <p:spPr>
          <a:xfrm>
            <a:off x="411480" y="299923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DDFF"/>
                </a:solidFill>
              </a:rPr>
              <a:t>HighestRated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0" y="2907792"/>
            <a:ext cx="1463040" cy="548640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38" name="TextBox 37"/>
          <p:cNvSpPr txBox="1"/>
          <p:nvPr/>
        </p:nvSpPr>
        <p:spPr>
          <a:xfrm>
            <a:off x="1874520" y="299923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0.024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2907792"/>
            <a:ext cx="1463040" cy="548640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40" name="TextBox 39"/>
          <p:cNvSpPr txBox="1"/>
          <p:nvPr/>
        </p:nvSpPr>
        <p:spPr>
          <a:xfrm>
            <a:off x="3337560" y="299923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0.021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2907792"/>
            <a:ext cx="1463040" cy="548640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42" name="TextBox 41"/>
          <p:cNvSpPr txBox="1"/>
          <p:nvPr/>
        </p:nvSpPr>
        <p:spPr>
          <a:xfrm>
            <a:off x="4800600" y="299923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2907792"/>
            <a:ext cx="3931920" cy="548640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44" name="TextBox 43"/>
          <p:cNvSpPr txBox="1"/>
          <p:nvPr/>
        </p:nvSpPr>
        <p:spPr>
          <a:xfrm>
            <a:off x="6263640" y="2999232"/>
            <a:ext cx="3840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CCFF"/>
                </a:solidFill>
              </a:rPr>
              <a:t>Stable -- quality signal holds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56432"/>
            <a:ext cx="1463040" cy="548640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46" name="TextBox 45"/>
          <p:cNvSpPr txBox="1"/>
          <p:nvPr/>
        </p:nvSpPr>
        <p:spPr>
          <a:xfrm>
            <a:off x="411480" y="354787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DDFF"/>
                </a:solidFill>
              </a:rPr>
              <a:t>ContentBased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0" y="3456432"/>
            <a:ext cx="1463040" cy="548640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48" name="TextBox 47"/>
          <p:cNvSpPr txBox="1"/>
          <p:nvPr/>
        </p:nvSpPr>
        <p:spPr>
          <a:xfrm>
            <a:off x="1874520" y="354787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91840" y="3456432"/>
            <a:ext cx="1463040" cy="548640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50" name="TextBox 49"/>
          <p:cNvSpPr txBox="1"/>
          <p:nvPr/>
        </p:nvSpPr>
        <p:spPr>
          <a:xfrm>
            <a:off x="3337560" y="354787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0.008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3456432"/>
            <a:ext cx="1463040" cy="548640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52" name="TextBox 51"/>
          <p:cNvSpPr txBox="1"/>
          <p:nvPr/>
        </p:nvSpPr>
        <p:spPr>
          <a:xfrm>
            <a:off x="4800600" y="354787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0.006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3456432"/>
            <a:ext cx="3931920" cy="548640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54" name="TextBox 53"/>
          <p:cNvSpPr txBox="1"/>
          <p:nvPr/>
        </p:nvSpPr>
        <p:spPr>
          <a:xfrm>
            <a:off x="6263640" y="3547872"/>
            <a:ext cx="3840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CCFF"/>
                </a:solidFill>
              </a:rPr>
              <a:t>Decreasing -- best matches front-loaded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005072"/>
            <a:ext cx="1463040" cy="548640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56" name="TextBox 55"/>
          <p:cNvSpPr txBox="1"/>
          <p:nvPr/>
        </p:nvSpPr>
        <p:spPr>
          <a:xfrm>
            <a:off x="411480" y="409651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DDFF"/>
                </a:solidFill>
              </a:rPr>
              <a:t>ItemItemCF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0" y="4005072"/>
            <a:ext cx="1463040" cy="548640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58" name="TextBox 57"/>
          <p:cNvSpPr txBox="1"/>
          <p:nvPr/>
        </p:nvSpPr>
        <p:spPr>
          <a:xfrm>
            <a:off x="1874520" y="409651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0.003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91840" y="4005072"/>
            <a:ext cx="1463040" cy="548640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60" name="TextBox 59"/>
          <p:cNvSpPr txBox="1"/>
          <p:nvPr/>
        </p:nvSpPr>
        <p:spPr>
          <a:xfrm>
            <a:off x="3337560" y="409651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0.004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54880" y="4005072"/>
            <a:ext cx="1463040" cy="548640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62" name="TextBox 61"/>
          <p:cNvSpPr txBox="1"/>
          <p:nvPr/>
        </p:nvSpPr>
        <p:spPr>
          <a:xfrm>
            <a:off x="4800600" y="409651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0.004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4005072"/>
            <a:ext cx="3931920" cy="548640"/>
          </a:xfrm>
          <a:prstGeom prst="rect">
            <a:avLst/>
          </a:prstGeom>
          <a:solidFill>
            <a:srgbClr val="22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64" name="TextBox 63"/>
          <p:cNvSpPr txBox="1"/>
          <p:nvPr/>
        </p:nvSpPr>
        <p:spPr>
          <a:xfrm>
            <a:off x="6263640" y="4096512"/>
            <a:ext cx="3840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CCFF"/>
                </a:solidFill>
              </a:rPr>
              <a:t>Stable (low throughout)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553712"/>
            <a:ext cx="1463040" cy="548640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66" name="TextBox 65"/>
          <p:cNvSpPr txBox="1"/>
          <p:nvPr/>
        </p:nvSpPr>
        <p:spPr>
          <a:xfrm>
            <a:off x="411480" y="464515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DDFF"/>
                </a:solidFill>
              </a:rPr>
              <a:t>UserUserCF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28800" y="4553712"/>
            <a:ext cx="1463040" cy="548640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68" name="TextBox 67"/>
          <p:cNvSpPr txBox="1"/>
          <p:nvPr/>
        </p:nvSpPr>
        <p:spPr>
          <a:xfrm>
            <a:off x="1874520" y="464515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0.008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91840" y="4553712"/>
            <a:ext cx="1463040" cy="548640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70" name="TextBox 69"/>
          <p:cNvSpPr txBox="1"/>
          <p:nvPr/>
        </p:nvSpPr>
        <p:spPr>
          <a:xfrm>
            <a:off x="3337560" y="464515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754880" y="4553712"/>
            <a:ext cx="1463040" cy="548640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72" name="TextBox 71"/>
          <p:cNvSpPr txBox="1"/>
          <p:nvPr/>
        </p:nvSpPr>
        <p:spPr>
          <a:xfrm>
            <a:off x="4800600" y="464515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0.011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0" y="4553712"/>
            <a:ext cx="3931920" cy="548640"/>
          </a:xfrm>
          <a:prstGeom prst="rect">
            <a:avLst/>
          </a:prstGeom>
          <a:solidFill>
            <a:srgbClr val="1A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74" name="TextBox 73"/>
          <p:cNvSpPr txBox="1"/>
          <p:nvPr/>
        </p:nvSpPr>
        <p:spPr>
          <a:xfrm>
            <a:off x="6263640" y="4645152"/>
            <a:ext cx="3840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CCFF"/>
                </a:solidFill>
              </a:rPr>
              <a:t>Increasing -- signal spreads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" y="5102352"/>
            <a:ext cx="1463040" cy="548640"/>
          </a:xfrm>
          <a:prstGeom prst="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76" name="TextBox 75"/>
          <p:cNvSpPr txBox="1"/>
          <p:nvPr/>
        </p:nvSpPr>
        <p:spPr>
          <a:xfrm>
            <a:off x="411480" y="519379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DDFF"/>
                </a:solidFill>
              </a:rPr>
              <a:t>MatrixFact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28800" y="5102352"/>
            <a:ext cx="1463040" cy="548640"/>
          </a:xfrm>
          <a:prstGeom prst="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78" name="TextBox 77"/>
          <p:cNvSpPr txBox="1"/>
          <p:nvPr/>
        </p:nvSpPr>
        <p:spPr>
          <a:xfrm>
            <a:off x="1874520" y="519379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9D8F"/>
                </a:solidFill>
              </a:rPr>
              <a:t>0.103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91840" y="5102352"/>
            <a:ext cx="1463040" cy="548640"/>
          </a:xfrm>
          <a:prstGeom prst="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80" name="TextBox 79"/>
          <p:cNvSpPr txBox="1"/>
          <p:nvPr/>
        </p:nvSpPr>
        <p:spPr>
          <a:xfrm>
            <a:off x="3337560" y="519379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9D8F"/>
                </a:solidFill>
              </a:rPr>
              <a:t>0.090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54880" y="5102352"/>
            <a:ext cx="1463040" cy="548640"/>
          </a:xfrm>
          <a:prstGeom prst="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82" name="TextBox 81"/>
          <p:cNvSpPr txBox="1"/>
          <p:nvPr/>
        </p:nvSpPr>
        <p:spPr>
          <a:xfrm>
            <a:off x="4800600" y="519379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A9D8F"/>
                </a:solidFill>
              </a:rPr>
              <a:t>0.079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17920" y="5102352"/>
            <a:ext cx="3931920" cy="548640"/>
          </a:xfrm>
          <a:prstGeom prst="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84" name="TextBox 83"/>
          <p:cNvSpPr txBox="1"/>
          <p:nvPr/>
        </p:nvSpPr>
        <p:spPr>
          <a:xfrm>
            <a:off x="6263640" y="5193792"/>
            <a:ext cx="3840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CCFF"/>
                </a:solidFill>
              </a:rPr>
              <a:t>Decreasing -- dominates at all 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Beyond-Accuracy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BBCC"/>
                </a:solidFill>
              </a:rPr>
              <a:t>Coverage, Novelty, Popularity Bias, Intra-List Diversity (ILD)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283464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834640" cy="34747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1344168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Catalog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65176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ContentBased: 32.1%  [best]
UserUserCF:   15.6%
Random:       11.9%
MatrixFact:    6.8%
MostPopular:   1.0%  [worst]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4279392"/>
            <a:ext cx="2688336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0" name="TextBox 9"/>
          <p:cNvSpPr txBox="1"/>
          <p:nvPr/>
        </p:nvSpPr>
        <p:spPr>
          <a:xfrm>
            <a:off x="365760" y="4370832"/>
            <a:ext cx="26517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FFCC"/>
                </a:solidFill>
              </a:rPr>
              <a:t>ContentBased covers 32x more
of the catalogue. Each user's
profile points to a different
corner of the item space.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325880"/>
            <a:ext cx="283464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18688" y="1325880"/>
            <a:ext cx="2834640" cy="34747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1344168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Novelty (self-info)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1737360"/>
            <a:ext cx="265176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ContentBased: 14.64  [best]
Random:        14.27
ItemItemCF:   13.57
UserUserCF:   12.59
MatrixFact:    9.55
MostPopular:   8.57  [worst]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4279392"/>
            <a:ext cx="2688336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6" name="TextBox 15"/>
          <p:cNvSpPr txBox="1"/>
          <p:nvPr/>
        </p:nvSpPr>
        <p:spPr>
          <a:xfrm>
            <a:off x="3310128" y="4370832"/>
            <a:ext cx="26517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FFCC"/>
                </a:solidFill>
              </a:rPr>
              <a:t>MostPopular recommends
what everyone already knows.
ContentBased surfaces
genuinely niche items.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1325880"/>
            <a:ext cx="283464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056" y="1325880"/>
            <a:ext cx="2834640" cy="34747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36208" y="1344168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Intra-List Diversity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1737360"/>
            <a:ext cx="265176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HighestRated: 0.973
MostPopular:  0.952  [best div]
MatrixFact:   0.926
UserUserCF:   0.883
ItemItemCF:   0.815
ContentBased: 0.201  [lowest]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8" y="4279392"/>
            <a:ext cx="2688336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2" name="TextBox 21"/>
          <p:cNvSpPr txBox="1"/>
          <p:nvPr/>
        </p:nvSpPr>
        <p:spPr>
          <a:xfrm>
            <a:off x="6254496" y="4370832"/>
            <a:ext cx="26517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FFCC"/>
                </a:solidFill>
              </a:rPr>
              <a:t>ContentBased clusters recs
tightly by genre (ILD=0.20).
MMR re-ranking would help.
Popular films span genres.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07424" y="1325880"/>
            <a:ext cx="283464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07424" y="1325880"/>
            <a:ext cx="2834640" cy="34747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0576" y="1344168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Popularity Bias (AvgPop)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1737360"/>
            <a:ext cx="265176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F"/>
                </a:solidFill>
              </a:rPr>
              <a:t>MostPopular: 216.7  [worst]
MatrixFact:  126.3
HighestRated: 66.1
UserUserCF:   29.3
Random:       10.8
ContentBased:  9.6  [best]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0576" y="4279392"/>
            <a:ext cx="2688336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8" name="TextBox 27"/>
          <p:cNvSpPr txBox="1"/>
          <p:nvPr/>
        </p:nvSpPr>
        <p:spPr>
          <a:xfrm>
            <a:off x="9198864" y="4370832"/>
            <a:ext cx="26517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FFCC"/>
                </a:solidFill>
              </a:rPr>
              <a:t>High accuracy models surface
popular items -- less value
for users who know the
classics already.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Item-Item CF: Why P@10 = 0.004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BBCC"/>
                </a:solidFill>
              </a:rPr>
              <a:t>A dataset sparsity constraint -- not a bug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</a:rPr>
              <a:t>The Sparsity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521208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With 98.3% sparsity, most item
pairs share very few co-raters.
The </a:t>
            </a:r>
            <a:r>
              <a:rPr sz="1300" b="0" i="0" dirty="0" err="1">
                <a:solidFill>
                  <a:srgbClr val="FFFFFF"/>
                </a:solidFill>
              </a:rPr>
              <a:t>min_support</a:t>
            </a:r>
            <a:r>
              <a:rPr sz="1300" b="0" i="0" dirty="0">
                <a:solidFill>
                  <a:srgbClr val="FFFFFF"/>
                </a:solidFill>
              </a:rPr>
              <a:t>=5 filter:
Items with &lt; 5 raters have their
similarities zeroed out. Without it,
a single shared rater gives
</a:t>
            </a:r>
            <a:r>
              <a:rPr sz="1300" b="0" i="0" dirty="0" err="1">
                <a:solidFill>
                  <a:srgbClr val="FFFFFF"/>
                </a:solidFill>
              </a:rPr>
              <a:t>cosine_sim</a:t>
            </a:r>
            <a:r>
              <a:rPr sz="1300" b="0" i="0" dirty="0">
                <a:solidFill>
                  <a:srgbClr val="FFFFFF"/>
                </a:solidFill>
              </a:rPr>
              <a:t> = 1.0 -- an artefact
that floods the top-10 with scores
equal to the user's max rating.
With the filter:
Only 35.8% of items survive.
The other 64.2% score zero
and cannot be ranked.
</a:t>
            </a:r>
            <a:r>
              <a:rPr sz="1300" b="0" i="0" dirty="0" err="1">
                <a:solidFill>
                  <a:srgbClr val="FFFFFF"/>
                </a:solidFill>
              </a:rPr>
              <a:t>min_support</a:t>
            </a:r>
            <a:r>
              <a:rPr sz="1300" b="0" i="0" dirty="0">
                <a:solidFill>
                  <a:srgbClr val="FFFFFF"/>
                </a:solidFill>
              </a:rPr>
              <a:t>=2 was tested:
P@10 dropped to 0.001 -- worse.
Sparser items = noisier similarities.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54864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27648" y="1417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</a:rPr>
              <a:t>What It Gets 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828800"/>
            <a:ext cx="521208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Where it does form opinions,
the model behaves sensibly:
AvgPopularity = 7.3
-&gt; Lowest of all personalised
   methods. Surfaces genuinely
   niche, long-tail items.
Novelty = 13.57
-&gt; Above average. Recommendations
   are non-obvious.
ILD = 0.815
-&gt; Varied lists when it can
   form an opinion.
In production: pair with a
popularity fallback for items
below the support threshold.
Standard hybrid design.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Interactive Prototype --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BBCC"/>
                </a:solidFill>
              </a:rPr>
              <a:t>3 pages, @st.cache_resource training, runs in the browser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356616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566160" cy="5029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344168"/>
            <a:ext cx="3346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Page 1
Dataset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38328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FFFFFF"/>
                </a:solidFill>
              </a:rPr>
              <a:t>  &gt; 5 KPI cards: Users, Movies,
  Ratings, Sparsity, Avg Rating</a:t>
            </a:r>
          </a:p>
          <a:p>
            <a:r>
              <a:rPr sz="1300" dirty="0">
                <a:solidFill>
                  <a:srgbClr val="FFFFFF"/>
                </a:solidFill>
              </a:rPr>
              <a:t>  &gt; Rating distribution histogram</a:t>
            </a:r>
          </a:p>
          <a:p>
            <a:r>
              <a:rPr sz="1300" dirty="0">
                <a:solidFill>
                  <a:srgbClr val="FFFFFF"/>
                </a:solidFill>
              </a:rPr>
              <a:t>  &gt; Ratings-per-user distribution</a:t>
            </a:r>
          </a:p>
          <a:p>
            <a:r>
              <a:rPr sz="1300" dirty="0">
                <a:solidFill>
                  <a:srgbClr val="FFFFFF"/>
                </a:solidFill>
              </a:rPr>
              <a:t>  &gt; Top-15 most-rated movies</a:t>
            </a:r>
          </a:p>
          <a:p>
            <a:r>
              <a:rPr sz="1300" dirty="0">
                <a:solidFill>
                  <a:srgbClr val="FFFFFF"/>
                </a:solidFill>
              </a:rPr>
              <a:t>  &gt; Genre frequency bar chart</a:t>
            </a:r>
          </a:p>
          <a:p>
            <a:r>
              <a:rPr sz="1300" dirty="0">
                <a:solidFill>
                  <a:srgbClr val="FFFFFF"/>
                </a:solidFill>
              </a:rPr>
              <a:t>  &gt; Long-tail popularity curve (log)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3088" y="1325880"/>
            <a:ext cx="356616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33088" y="1325880"/>
            <a:ext cx="3566160" cy="5029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42816" y="1344168"/>
            <a:ext cx="3346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Page 2
Get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920240"/>
            <a:ext cx="338328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FFFFFF"/>
                </a:solidFill>
              </a:rPr>
              <a:t>  &gt; Select any of 610 users</a:t>
            </a:r>
          </a:p>
          <a:p>
            <a:r>
              <a:rPr sz="1300" dirty="0">
                <a:solidFill>
                  <a:srgbClr val="FFFFFF"/>
                </a:solidFill>
              </a:rPr>
              <a:t>  &gt; Choose algorithm + list length</a:t>
            </a:r>
          </a:p>
          <a:p>
            <a:r>
              <a:rPr sz="1300" dirty="0">
                <a:solidFill>
                  <a:srgbClr val="FFFFFF"/>
                </a:solidFill>
              </a:rPr>
              <a:t>  &gt; User profile: top-rated movies
  + </a:t>
            </a:r>
            <a:r>
              <a:rPr sz="1300" dirty="0" err="1">
                <a:solidFill>
                  <a:srgbClr val="FFFFFF"/>
                </a:solidFill>
              </a:rPr>
              <a:t>favourite</a:t>
            </a:r>
            <a:r>
              <a:rPr sz="1300" dirty="0">
                <a:solidFill>
                  <a:srgbClr val="FFFFFF"/>
                </a:solidFill>
              </a:rPr>
              <a:t> genres</a:t>
            </a:r>
          </a:p>
          <a:p>
            <a:r>
              <a:rPr sz="1300" dirty="0">
                <a:solidFill>
                  <a:srgbClr val="FFFFFF"/>
                </a:solidFill>
              </a:rPr>
              <a:t>  &gt; Cold-start warning if &lt; 20 ratings</a:t>
            </a:r>
          </a:p>
          <a:p>
            <a:r>
              <a:rPr sz="1300" dirty="0">
                <a:solidFill>
                  <a:srgbClr val="FFFFFF"/>
                </a:solidFill>
              </a:rPr>
              <a:t>  &gt; </a:t>
            </a:r>
            <a:r>
              <a:rPr sz="1300" dirty="0" err="1">
                <a:solidFill>
                  <a:srgbClr val="FFFFFF"/>
                </a:solidFill>
              </a:rPr>
              <a:t>MatrixFact</a:t>
            </a:r>
            <a:r>
              <a:rPr sz="1300" dirty="0">
                <a:solidFill>
                  <a:srgbClr val="FFFFFF"/>
                </a:solidFill>
              </a:rPr>
              <a:t> shows predicted
  score per recommendation</a:t>
            </a:r>
          </a:p>
          <a:p>
            <a:r>
              <a:rPr sz="1300" dirty="0">
                <a:solidFill>
                  <a:srgbClr val="FFFFFF"/>
                </a:solidFill>
              </a:rPr>
              <a:t>  &gt; Genre + popularity per item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0416" y="1325880"/>
            <a:ext cx="356616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00416" y="1325880"/>
            <a:ext cx="3566160" cy="5029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10144" y="1344168"/>
            <a:ext cx="3346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Page 3
Compare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1856" y="1920240"/>
            <a:ext cx="338328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FFFFFF"/>
                </a:solidFill>
              </a:rPr>
              <a:t>  &gt; Full 9-metric styled table
  (teal=best, red=worst)</a:t>
            </a:r>
          </a:p>
          <a:p>
            <a:r>
              <a:rPr sz="1300" dirty="0">
                <a:solidFill>
                  <a:srgbClr val="FFFFFF"/>
                </a:solidFill>
              </a:rPr>
              <a:t>  &gt; 5 accuracy bar charts</a:t>
            </a:r>
          </a:p>
          <a:p>
            <a:r>
              <a:rPr sz="1300" dirty="0">
                <a:solidFill>
                  <a:srgbClr val="FFFFFF"/>
                </a:solidFill>
              </a:rPr>
              <a:t>  &gt; 4 beyond-accuracy charts:
  Coverage / Novelty / Pop / ILD</a:t>
            </a:r>
          </a:p>
          <a:p>
            <a:r>
              <a:rPr sz="1300" dirty="0">
                <a:solidFill>
                  <a:srgbClr val="FFFFFF"/>
                </a:solidFill>
              </a:rPr>
              <a:t>  &gt; Key Takeaways summary</a:t>
            </a:r>
          </a:p>
          <a:p>
            <a:r>
              <a:rPr sz="1300" dirty="0">
                <a:solidFill>
                  <a:srgbClr val="FFFFFF"/>
                </a:solidFill>
              </a:rPr>
              <a:t>  &gt; Download results.csv button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0" y="6327648"/>
            <a:ext cx="121889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2A9D8F"/>
                </a:solidFill>
              </a:rPr>
              <a:t>streamlit</a:t>
            </a:r>
            <a:r>
              <a:rPr sz="1300" b="0" i="1" dirty="0">
                <a:solidFill>
                  <a:srgbClr val="2A9D8F"/>
                </a:solidFill>
              </a:rPr>
              <a:t> run app.py   -&gt;   http://localhost:850</a:t>
            </a:r>
            <a:r>
              <a:rPr lang="de-DE" sz="1300" b="0" i="1" dirty="0">
                <a:solidFill>
                  <a:srgbClr val="2A9D8F"/>
                </a:solidFill>
              </a:rPr>
              <a:t>2</a:t>
            </a:r>
            <a:endParaRPr sz="1300" b="0" i="1" dirty="0">
              <a:solidFill>
                <a:srgbClr val="2A9D8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051560"/>
            <a:ext cx="11274552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BBCC"/>
                </a:solidFill>
              </a:rPr>
              <a:t>What the numbers tell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5577840" cy="7589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256032" cy="7589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" name="TextBox 6"/>
          <p:cNvSpPr txBox="1"/>
          <p:nvPr/>
        </p:nvSpPr>
        <p:spPr>
          <a:xfrm>
            <a:off x="694944" y="1298448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MatrixFact wins on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572768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FF"/>
                </a:solidFill>
              </a:rPr>
              <a:t>P@10=0.090, NDCG=0.112, HR=0.498 -- leads at K=5, 10 and 20.
50 SVD factors compress 98.3%-sparse data into dense taste signals.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61872"/>
            <a:ext cx="5577840" cy="7589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" name="Rectangle 9"/>
          <p:cNvSpPr/>
          <p:nvPr/>
        </p:nvSpPr>
        <p:spPr>
          <a:xfrm>
            <a:off x="6217920" y="1261872"/>
            <a:ext cx="256032" cy="7589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6547104" y="1298448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MostPopular is hard to beat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1572768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FF"/>
                </a:solidFill>
              </a:rPr>
              <a:t>P@10=0.064 with zero personalisation. Coverage of 1% is the cost:
it treats 9,742 movies as if only ~97 exist.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75688"/>
            <a:ext cx="5577840" cy="7589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" name="Rectangle 13"/>
          <p:cNvSpPr/>
          <p:nvPr/>
        </p:nvSpPr>
        <p:spPr>
          <a:xfrm>
            <a:off x="365760" y="2075688"/>
            <a:ext cx="256032" cy="7589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694944" y="2112264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Accuracy vs. novelty is a real trade-off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386584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FF"/>
                </a:solidFill>
              </a:rPr>
              <a:t>ContentBased: novelty=14.64, coverage=32% -- but P@10=0.008.
MatrixFact: best accuracy -- but AvgPop=126, blockbuster-heavy.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075688"/>
            <a:ext cx="5577840" cy="7589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8" name="Rectangle 17"/>
          <p:cNvSpPr/>
          <p:nvPr/>
        </p:nvSpPr>
        <p:spPr>
          <a:xfrm>
            <a:off x="6217920" y="2075688"/>
            <a:ext cx="256032" cy="7589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6547104" y="2112264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ILD reveals a new dimension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2386584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FF"/>
                </a:solidFill>
              </a:rPr>
              <a:t>ContentBased ILD=0.20 -- genre-monotone despite personalisation.
MostPopular ILD=0.95 -- popular films naturally span many genres.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89504"/>
            <a:ext cx="5577840" cy="7589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Rectangle 21"/>
          <p:cNvSpPr/>
          <p:nvPr/>
        </p:nvSpPr>
        <p:spPr>
          <a:xfrm>
            <a:off x="365760" y="2889504"/>
            <a:ext cx="256032" cy="7589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" name="TextBox 22"/>
          <p:cNvSpPr txBox="1"/>
          <p:nvPr/>
        </p:nvSpPr>
        <p:spPr>
          <a:xfrm>
            <a:off x="694944" y="2926080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ItemItemCF is constrained by sparsity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3200400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FF"/>
                </a:solidFill>
              </a:rPr>
              <a:t>Only 35.8% of items have &gt;= 5 co-raters. The model is not broken.
Paired with a fallback it surfaces niche items better than any other method.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889504"/>
            <a:ext cx="5577840" cy="7589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Rectangle 25"/>
          <p:cNvSpPr/>
          <p:nvPr/>
        </p:nvSpPr>
        <p:spPr>
          <a:xfrm>
            <a:off x="6217920" y="2889504"/>
            <a:ext cx="256032" cy="7589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7" name="TextBox 26"/>
          <p:cNvSpPr txBox="1"/>
          <p:nvPr/>
        </p:nvSpPr>
        <p:spPr>
          <a:xfrm>
            <a:off x="6547104" y="2926080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Temporal split changes the numbers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3200400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FF"/>
                </a:solidFill>
              </a:rPr>
              <a:t>Using each user's most recent 20% as test (not random) eliminates
temporal leakage and gives a realistic picture of deployment performance.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74552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</a:rPr>
              <a:t>Use Case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27632"/>
            <a:ext cx="502920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" name="TextBox 6"/>
          <p:cNvSpPr txBox="1"/>
          <p:nvPr/>
        </p:nvSpPr>
        <p:spPr>
          <a:xfrm>
            <a:off x="566928" y="16733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73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Matrix Factorization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920240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</a:rPr>
              <a:t>P@10=0.090, best at all K values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502920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566928" y="2331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</a:rPr>
              <a:t>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331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Content-Based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578608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</a:rPr>
              <a:t>32% coverage, novelty=14.64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44368"/>
            <a:ext cx="502920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566928" y="29900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</a:rPr>
              <a:t>Cold-start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9900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MostPopular 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236976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</a:rPr>
              <a:t>No training data needed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02736"/>
            <a:ext cx="502920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566928" y="364845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</a:rPr>
              <a:t>Variety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6484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MatrixFact + MMR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895344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CC"/>
                </a:solidFill>
              </a:rPr>
              <a:t>ILD=0.926, diverse genre spread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188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</a:rPr>
              <a:t>Future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627632"/>
            <a:ext cx="5760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  -&gt;  Hybrid model: blend MatrixFact + ContentBased for accuracy + novelty</a:t>
            </a:r>
          </a:p>
          <a:p>
            <a:r>
              <a:rPr sz="1200">
                <a:solidFill>
                  <a:srgbClr val="FFFFFF"/>
                </a:solidFill>
              </a:rPr>
              <a:t>  -&gt;  Proper MF with bias terms: SGD-MF or implicit ALS (surprise / implicit library)</a:t>
            </a:r>
          </a:p>
          <a:p>
            <a:r>
              <a:rPr sz="1200">
                <a:solidFill>
                  <a:srgbClr val="FFFFFF"/>
                </a:solidFill>
              </a:rPr>
              <a:t>  -&gt;  MMR re-ranking for ContentBased: raise ILD from 0.20 without losing relevance</a:t>
            </a:r>
          </a:p>
          <a:p>
            <a:r>
              <a:rPr sz="1200">
                <a:solidFill>
                  <a:srgbClr val="FFFFFF"/>
                </a:solidFill>
              </a:rPr>
              <a:t>  -&gt;  Implicit feedback: treat views-without-ratings as weak positive signals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0" y="60533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CineMatch  |  ESADE Recommender Systems  |  2025/26  |  MovieLens Small  |  7 algorithms  |  9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1888</Words>
  <Application>Microsoft Office PowerPoint</Application>
  <PresentationFormat>Custom</PresentationFormat>
  <Paragraphs>249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Mara Rüsen</cp:lastModifiedBy>
  <cp:revision>6</cp:revision>
  <dcterms:created xsi:type="dcterms:W3CDTF">2013-01-27T09:14:16Z</dcterms:created>
  <dcterms:modified xsi:type="dcterms:W3CDTF">2026-06-30T14:57:05Z</dcterms:modified>
  <cp:category/>
</cp:coreProperties>
</file>